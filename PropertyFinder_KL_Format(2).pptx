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pPr algn="ctr"/>
            <a:r>
              <a:rPr sz="3200" b="1">
                <a:solidFill>
                  <a:srgbClr val="CC0000"/>
                </a:solidFill>
                <a:latin typeface="Aptos"/>
              </a:rPr>
              <a:t>Data Structures and Algorithms -3
(25CS2103E)</a:t>
            </a:r>
          </a:p>
          <a:p>
            <a:pPr algn="ctr"/>
            <a:r>
              <a:rPr sz="3400" b="1">
                <a:solidFill>
                  <a:srgbClr val="CC0000"/>
                </a:solidFill>
                <a:latin typeface="Aptos"/>
              </a:rPr>
              <a:t>
PROPERTY FINDER</a:t>
            </a:r>
          </a:p>
        </p:txBody>
      </p:sp>
      <p:sp>
        <p:nvSpPr>
          <p:cNvPr id="3" name="Subtitle 2"/>
          <p:cNvSpPr>
            <a:spLocks noGrp="1"/>
          </p:cNvSpPr>
          <p:nvPr>
            <p:ph type="subTitle" idx="1"/>
          </p:nvPr>
        </p:nvSpPr>
        <p:spPr>
          <a:xfrm>
            <a:off x="4270160" y="3513524"/>
            <a:ext cx="4551284" cy="1396014"/>
          </a:xfrm>
        </p:spPr>
        <p:txBody>
          <a:bodyPr/>
          <a:lstStyle/>
          <a:p>
            <a:pPr algn="ctr"/>
            <a:r>
              <a:rPr sz="2000" b="0" dirty="0">
                <a:solidFill>
                  <a:srgbClr val="1F77B4"/>
                </a:solidFill>
                <a:latin typeface="Aptos"/>
              </a:rPr>
              <a:t>Team Members</a:t>
            </a:r>
          </a:p>
          <a:p>
            <a:pPr algn="ctr"/>
            <a:r>
              <a:rPr sz="1800" b="0" dirty="0">
                <a:solidFill>
                  <a:srgbClr val="1F77B4"/>
                </a:solidFill>
                <a:latin typeface="Aptos"/>
              </a:rPr>
              <a:t>K. Mohith — 2520030520</a:t>
            </a:r>
          </a:p>
          <a:p>
            <a:pPr algn="ctr"/>
            <a:r>
              <a:rPr sz="1800" b="0" dirty="0">
                <a:solidFill>
                  <a:srgbClr val="1F77B4"/>
                </a:solidFill>
                <a:latin typeface="Aptos"/>
              </a:rPr>
              <a:t>T. Srikar — 2520030076</a:t>
            </a:r>
          </a:p>
          <a:p>
            <a:pPr algn="ctr"/>
            <a:r>
              <a:rPr sz="1800" b="1" dirty="0">
                <a:solidFill>
                  <a:srgbClr val="1F77B4"/>
                </a:solidFill>
                <a:latin typeface="Aptos"/>
              </a:rPr>
              <a:t>Team 15</a:t>
            </a:r>
          </a:p>
          <a:p>
            <a:pPr algn="ctr"/>
            <a:endParaRPr sz="1800" b="1" dirty="0">
              <a:solidFill>
                <a:srgbClr val="1F77B4"/>
              </a:solidFill>
              <a:latin typeface="Aptos"/>
            </a:endParaRPr>
          </a:p>
          <a:p>
            <a:pPr algn="ctr"/>
            <a:r>
              <a:rPr sz="1700" b="0" dirty="0">
                <a:solidFill>
                  <a:srgbClr val="232323"/>
                </a:solidFill>
                <a:latin typeface="Aptos"/>
              </a:rPr>
              <a:t>Under the Esteemed Guidance of</a:t>
            </a:r>
            <a:endParaRPr lang="en-US" sz="1700" b="0" dirty="0">
              <a:solidFill>
                <a:srgbClr val="232323"/>
              </a:solidFill>
              <a:latin typeface="Aptos"/>
            </a:endParaRPr>
          </a:p>
          <a:p>
            <a:pPr algn="ctr"/>
            <a:r>
              <a:rPr lang="en-IN" sz="1700" dirty="0">
                <a:solidFill>
                  <a:srgbClr val="232323"/>
                </a:solidFill>
                <a:latin typeface="Aptos"/>
              </a:rPr>
              <a:t>Dr. </a:t>
            </a:r>
            <a:r>
              <a:rPr lang="en-IN" sz="1700" dirty="0" err="1">
                <a:solidFill>
                  <a:srgbClr val="232323"/>
                </a:solidFill>
                <a:latin typeface="Aptos"/>
              </a:rPr>
              <a:t>V.Sireesha</a:t>
            </a:r>
            <a:endParaRPr lang="en-IN" sz="1700" dirty="0">
              <a:solidFill>
                <a:srgbClr val="232323"/>
              </a:solidFill>
              <a:latin typeface="Aptos"/>
            </a:endParaRPr>
          </a:p>
          <a:p>
            <a:pPr algn="ctr"/>
            <a:endParaRPr sz="1700" b="0" dirty="0">
              <a:solidFill>
                <a:srgbClr val="232323"/>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900"/>
              </a:spcAft>
              <a:buFont typeface="Arial" panose="020B0604020202020204" pitchFamily="34" charset="0"/>
              <a:buChar char="•"/>
              <a:defRPr sz="2300">
                <a:solidFill>
                  <a:srgbClr val="232323"/>
                </a:solidFill>
                <a:latin typeface="Aptos"/>
              </a:defRPr>
            </a:pPr>
            <a:r>
              <a:t>• Abstract</a:t>
            </a:r>
          </a:p>
          <a:p>
            <a:pPr>
              <a:spcAft>
                <a:spcPts val="900"/>
              </a:spcAft>
              <a:defRPr sz="2300">
                <a:solidFill>
                  <a:srgbClr val="232323"/>
                </a:solidFill>
                <a:latin typeface="Aptos"/>
              </a:defRPr>
            </a:pPr>
            <a:r>
              <a:t>• Introduction</a:t>
            </a:r>
          </a:p>
          <a:p>
            <a:pPr>
              <a:spcAft>
                <a:spcPts val="900"/>
              </a:spcAft>
              <a:defRPr sz="2300">
                <a:solidFill>
                  <a:srgbClr val="232323"/>
                </a:solidFill>
                <a:latin typeface="Aptos"/>
              </a:defRPr>
            </a:pPr>
            <a:r>
              <a:t>• Literature Survey</a:t>
            </a:r>
          </a:p>
          <a:p>
            <a:pPr>
              <a:spcAft>
                <a:spcPts val="900"/>
              </a:spcAft>
              <a:defRPr sz="2300">
                <a:solidFill>
                  <a:srgbClr val="232323"/>
                </a:solidFill>
                <a:latin typeface="Aptos"/>
              </a:defRPr>
            </a:pPr>
            <a:r>
              <a:t>• Problem Statement and Objectives</a:t>
            </a:r>
          </a:p>
          <a:p>
            <a:pPr>
              <a:spcAft>
                <a:spcPts val="900"/>
              </a:spcAft>
              <a:defRPr sz="2300">
                <a:solidFill>
                  <a:srgbClr val="232323"/>
                </a:solidFill>
                <a:latin typeface="Aptos"/>
              </a:defRPr>
            </a:pPr>
            <a:r>
              <a:t>• Flow Chart</a:t>
            </a:r>
          </a:p>
          <a:p>
            <a:pPr>
              <a:spcAft>
                <a:spcPts val="900"/>
              </a:spcAft>
              <a:defRPr sz="2300">
                <a:solidFill>
                  <a:srgbClr val="232323"/>
                </a:solidFill>
                <a:latin typeface="Aptos"/>
              </a:defRPr>
            </a:pPr>
            <a:r>
              <a:t>• Results</a:t>
            </a:r>
          </a:p>
          <a:p>
            <a:pPr>
              <a:spcAft>
                <a:spcPts val="900"/>
              </a:spcAft>
              <a:defRPr sz="2300">
                <a:solidFill>
                  <a:srgbClr val="232323"/>
                </a:solidFill>
                <a:latin typeface="Aptos"/>
              </a:defRPr>
            </a:pPr>
            <a:r>
              <a:t>• Hardware and Software Requirements</a:t>
            </a:r>
          </a:p>
          <a:p>
            <a:pPr>
              <a:spcAft>
                <a:spcPts val="900"/>
              </a:spcAft>
              <a:defRPr sz="2300">
                <a:solidFill>
                  <a:srgbClr val="232323"/>
                </a:solidFill>
                <a:latin typeface="Aptos"/>
              </a:defRPr>
            </a:pPr>
            <a:r>
              <a:t>• Conclusion</a:t>
            </a:r>
          </a:p>
          <a:p>
            <a:pPr>
              <a:spcAft>
                <a:spcPts val="900"/>
              </a:spcAft>
              <a:defRPr sz="2300">
                <a:solidFill>
                  <a:srgbClr val="232323"/>
                </a:solidFill>
                <a:latin typeface="Aptos"/>
              </a:defRPr>
            </a:pPr>
            <a:r>
              <a:t>• Future Scope</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p:cNvSpPr txBox="1"/>
          <p:nvPr/>
        </p:nvSpPr>
        <p:spPr>
          <a:xfrm>
            <a:off x="1051560" y="1417320"/>
            <a:ext cx="10058400" cy="4206240"/>
          </a:xfrm>
          <a:prstGeom prst="rect">
            <a:avLst/>
          </a:prstGeom>
          <a:noFill/>
        </p:spPr>
        <p:txBody>
          <a:bodyPr wrap="square" anchor="t">
            <a:spAutoFit/>
          </a:bodyPr>
          <a:lstStyle/>
          <a:p>
            <a:pPr algn="l"/>
            <a:r>
              <a:rPr sz="2100" b="0">
                <a:solidFill>
                  <a:srgbClr val="232323"/>
                </a:solidFill>
                <a:latin typeface="Aptos"/>
              </a:rPr>
              <a:t>Property Finder is an efficient real-estate search system based on Data Structures and Algorithms. It organizes property records and supports searching and filtering using location, price, property type, area, and amenities. The original project uses Array/ArrayList, HashMap, Binary Search Tree, Heap/Priority Queue, and Graph, together with searching, sorting, filtering, and graph traversal techniques.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p:cNvSpPr txBox="1"/>
          <p:nvPr/>
        </p:nvSpPr>
        <p:spPr>
          <a:xfrm>
            <a:off x="1005840" y="1325880"/>
            <a:ext cx="10149840" cy="5029200"/>
          </a:xfrm>
          <a:prstGeom prst="rect">
            <a:avLst/>
          </a:prstGeom>
          <a:noFill/>
        </p:spPr>
        <p:txBody>
          <a:bodyPr wrap="square">
            <a:spAutoFit/>
          </a:bodyPr>
          <a:lstStyle/>
          <a:p>
            <a:pPr>
              <a:spcAft>
                <a:spcPts val="900"/>
              </a:spcAft>
              <a:defRPr sz="2000">
                <a:solidFill>
                  <a:srgbClr val="232323"/>
                </a:solidFill>
                <a:latin typeface="Aptos"/>
              </a:defRPr>
            </a:pPr>
            <a:r>
              <a:t>• Real-estate websites can contain thousands of property listings.</a:t>
            </a:r>
          </a:p>
          <a:p>
            <a:pPr>
              <a:spcAft>
                <a:spcPts val="900"/>
              </a:spcAft>
              <a:defRPr sz="2000">
                <a:solidFill>
                  <a:srgbClr val="232323"/>
                </a:solidFill>
                <a:latin typeface="Aptos"/>
              </a:defRPr>
            </a:pPr>
            <a:r>
              <a:t>• Finding a suitable property manually can be time-consuming.</a:t>
            </a:r>
          </a:p>
          <a:p>
            <a:pPr>
              <a:spcAft>
                <a:spcPts val="900"/>
              </a:spcAft>
              <a:defRPr sz="2000">
                <a:solidFill>
                  <a:srgbClr val="232323"/>
                </a:solidFill>
                <a:latin typeface="Aptos"/>
              </a:defRPr>
            </a:pPr>
            <a:r>
              <a:t>• A simple linear search becomes inefficient as the number of properties increases.</a:t>
            </a:r>
          </a:p>
          <a:p>
            <a:pPr>
              <a:spcAft>
                <a:spcPts val="900"/>
              </a:spcAft>
              <a:defRPr sz="2000">
                <a:solidFill>
                  <a:srgbClr val="232323"/>
                </a:solidFill>
                <a:latin typeface="Aptos"/>
              </a:defRPr>
            </a:pPr>
            <a:r>
              <a:t>• Property Finder aims to make property discovery faster through appropriate data structures and algorithms.</a:t>
            </a:r>
          </a:p>
          <a:p>
            <a:pPr>
              <a:spcAft>
                <a:spcPts val="900"/>
              </a:spcAft>
              <a:defRPr sz="2000">
                <a:solidFill>
                  <a:srgbClr val="232323"/>
                </a:solidFill>
                <a:latin typeface="Aptos"/>
              </a:defRPr>
            </a:pPr>
            <a:r>
              <a:t>• Users can search using location, price range, property type, area, and amenities.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ounded Rectangle 3"/>
          <p:cNvSpPr/>
          <p:nvPr/>
        </p:nvSpPr>
        <p:spPr>
          <a:xfrm>
            <a:off x="1097280" y="1508760"/>
            <a:ext cx="9966960" cy="1828800"/>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spcAft>
                <a:spcPts val="500"/>
              </a:spcAft>
            </a:pPr>
            <a:r>
              <a:rPr sz="2000" b="1">
                <a:solidFill>
                  <a:srgbClr val="CC0000"/>
                </a:solidFill>
                <a:latin typeface="Aptos"/>
              </a:rPr>
              <a:t>Source status</a:t>
            </a:r>
          </a:p>
          <a:p>
            <a:r>
              <a:rPr sz="1800">
                <a:solidFill>
                  <a:srgbClr val="232323"/>
                </a:solidFill>
                <a:latin typeface="Aptos"/>
              </a:rPr>
              <a:t>A literature survey is not included in the original Property Finder PPT, so no external studies or papers have been added during conversion.</a:t>
            </a:r>
          </a:p>
        </p:txBody>
      </p:sp>
      <p:sp>
        <p:nvSpPr>
          <p:cNvPr id="5" name="TextBox 4"/>
          <p:cNvSpPr txBox="1"/>
          <p:nvPr/>
        </p:nvSpPr>
        <p:spPr>
          <a:xfrm>
            <a:off x="1234440" y="3749039"/>
            <a:ext cx="3657600" cy="365760"/>
          </a:xfrm>
          <a:prstGeom prst="rect">
            <a:avLst/>
          </a:prstGeom>
          <a:noFill/>
        </p:spPr>
        <p:txBody>
          <a:bodyPr wrap="square" anchor="t">
            <a:spAutoFit/>
          </a:bodyPr>
          <a:lstStyle/>
          <a:p>
            <a:pPr algn="l"/>
            <a:r>
              <a:rPr sz="2000" b="1">
                <a:solidFill>
                  <a:srgbClr val="CC0000"/>
                </a:solidFill>
                <a:latin typeface="Aptos"/>
              </a:rPr>
              <a:t>Original presentation focus</a:t>
            </a:r>
          </a:p>
        </p:txBody>
      </p:sp>
      <p:sp>
        <p:nvSpPr>
          <p:cNvPr id="6" name="TextBox 5"/>
          <p:cNvSpPr txBox="1"/>
          <p:nvPr/>
        </p:nvSpPr>
        <p:spPr>
          <a:xfrm>
            <a:off x="1234440" y="4160520"/>
            <a:ext cx="9509760" cy="1737360"/>
          </a:xfrm>
          <a:prstGeom prst="rect">
            <a:avLst/>
          </a:prstGeom>
          <a:noFill/>
        </p:spPr>
        <p:txBody>
          <a:bodyPr wrap="square">
            <a:spAutoFit/>
          </a:bodyPr>
          <a:lstStyle/>
          <a:p>
            <a:pPr>
              <a:spcAft>
                <a:spcPts val="900"/>
              </a:spcAft>
              <a:defRPr sz="1800">
                <a:solidFill>
                  <a:srgbClr val="232323"/>
                </a:solidFill>
                <a:latin typeface="Aptos"/>
              </a:defRPr>
            </a:pPr>
            <a:r>
              <a:t>• Efficient property searching and filtering</a:t>
            </a:r>
          </a:p>
          <a:p>
            <a:pPr>
              <a:spcAft>
                <a:spcPts val="900"/>
              </a:spcAft>
              <a:defRPr sz="1800">
                <a:solidFill>
                  <a:srgbClr val="232323"/>
                </a:solidFill>
                <a:latin typeface="Aptos"/>
              </a:defRPr>
            </a:pPr>
            <a:r>
              <a:t>• Search using multiple property criteria</a:t>
            </a:r>
          </a:p>
          <a:p>
            <a:pPr>
              <a:spcAft>
                <a:spcPts val="900"/>
              </a:spcAft>
              <a:defRPr sz="1800">
                <a:solidFill>
                  <a:srgbClr val="232323"/>
                </a:solidFill>
                <a:latin typeface="Aptos"/>
              </a:defRPr>
            </a:pPr>
            <a:r>
              <a:t>• Application of data structures and algorithms to a real-world search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ounded Rectangle 3"/>
          <p:cNvSpPr/>
          <p:nvPr/>
        </p:nvSpPr>
        <p:spPr>
          <a:xfrm>
            <a:off x="685800" y="1234440"/>
            <a:ext cx="5394960" cy="1965960"/>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spcAft>
                <a:spcPts val="500"/>
              </a:spcAft>
            </a:pPr>
            <a:r>
              <a:rPr sz="2000" b="1">
                <a:solidFill>
                  <a:srgbClr val="CC0000"/>
                </a:solidFill>
                <a:latin typeface="Aptos"/>
              </a:rPr>
              <a:t>Problem Statement</a:t>
            </a:r>
          </a:p>
          <a:p>
            <a:r>
              <a:rPr sz="1700">
                <a:solidFill>
                  <a:srgbClr val="232323"/>
                </a:solidFill>
                <a:latin typeface="Aptos"/>
              </a:rPr>
              <a:t>Real-estate listings are large in number, and manual or simple linear searching can become time-consuming. The system therefore focuses on faster property discovery using suitable DSA techniques.</a:t>
            </a:r>
          </a:p>
        </p:txBody>
      </p:sp>
      <p:sp>
        <p:nvSpPr>
          <p:cNvPr id="5" name="TextBox 4"/>
          <p:cNvSpPr txBox="1"/>
          <p:nvPr/>
        </p:nvSpPr>
        <p:spPr>
          <a:xfrm>
            <a:off x="6355080" y="1234440"/>
            <a:ext cx="2743200" cy="365760"/>
          </a:xfrm>
          <a:prstGeom prst="rect">
            <a:avLst/>
          </a:prstGeom>
          <a:noFill/>
        </p:spPr>
        <p:txBody>
          <a:bodyPr wrap="square" anchor="t">
            <a:spAutoFit/>
          </a:bodyPr>
          <a:lstStyle/>
          <a:p>
            <a:pPr algn="l"/>
            <a:r>
              <a:rPr sz="2100" b="1">
                <a:solidFill>
                  <a:srgbClr val="CC0000"/>
                </a:solidFill>
                <a:latin typeface="Aptos"/>
              </a:rPr>
              <a:t>Objectives</a:t>
            </a:r>
          </a:p>
        </p:txBody>
      </p:sp>
      <p:sp>
        <p:nvSpPr>
          <p:cNvPr id="6" name="TextBox 5"/>
          <p:cNvSpPr txBox="1"/>
          <p:nvPr/>
        </p:nvSpPr>
        <p:spPr>
          <a:xfrm>
            <a:off x="6309360" y="1627632"/>
            <a:ext cx="4709160" cy="4480560"/>
          </a:xfrm>
          <a:prstGeom prst="rect">
            <a:avLst/>
          </a:prstGeom>
          <a:noFill/>
        </p:spPr>
        <p:txBody>
          <a:bodyPr wrap="square">
            <a:spAutoFit/>
          </a:bodyPr>
          <a:lstStyle/>
          <a:p>
            <a:pPr>
              <a:spcAft>
                <a:spcPts val="900"/>
              </a:spcAft>
              <a:defRPr sz="1500">
                <a:solidFill>
                  <a:srgbClr val="232323"/>
                </a:solidFill>
                <a:latin typeface="Aptos"/>
              </a:defRPr>
            </a:pPr>
            <a:r>
              <a:t>• Develop an efficient property-searching system.</a:t>
            </a:r>
          </a:p>
          <a:p>
            <a:pPr>
              <a:spcAft>
                <a:spcPts val="900"/>
              </a:spcAft>
              <a:defRPr sz="1500">
                <a:solidFill>
                  <a:srgbClr val="232323"/>
                </a:solidFill>
                <a:latin typeface="Aptos"/>
              </a:defRPr>
            </a:pPr>
            <a:r>
              <a:t>• Store and organize large numbers of property records.</a:t>
            </a:r>
          </a:p>
          <a:p>
            <a:pPr>
              <a:spcAft>
                <a:spcPts val="900"/>
              </a:spcAft>
              <a:defRPr sz="1500">
                <a:solidFill>
                  <a:srgbClr val="232323"/>
                </a:solidFill>
                <a:latin typeface="Aptos"/>
              </a:defRPr>
            </a:pPr>
            <a:r>
              <a:t>• Provide fast searching based on different parameters.</a:t>
            </a:r>
          </a:p>
          <a:p>
            <a:pPr>
              <a:spcAft>
                <a:spcPts val="900"/>
              </a:spcAft>
              <a:defRPr sz="1500">
                <a:solidFill>
                  <a:srgbClr val="232323"/>
                </a:solidFill>
                <a:latin typeface="Aptos"/>
              </a:defRPr>
            </a:pPr>
            <a:r>
              <a:t>• Allow users to filter properties according to their requirements.</a:t>
            </a:r>
          </a:p>
          <a:p>
            <a:pPr>
              <a:spcAft>
                <a:spcPts val="900"/>
              </a:spcAft>
              <a:defRPr sz="1500">
                <a:solidFill>
                  <a:srgbClr val="232323"/>
                </a:solidFill>
                <a:latin typeface="Aptos"/>
              </a:defRPr>
            </a:pPr>
            <a:r>
              <a:t>• Sort properties based on price, area, or rating.</a:t>
            </a:r>
          </a:p>
          <a:p>
            <a:pPr>
              <a:spcAft>
                <a:spcPts val="900"/>
              </a:spcAft>
              <a:defRPr sz="1500">
                <a:solidFill>
                  <a:srgbClr val="232323"/>
                </a:solidFill>
                <a:latin typeface="Aptos"/>
              </a:defRPr>
            </a:pPr>
            <a:r>
              <a:t>• Reduce search time using appropriate DSA techniques.</a:t>
            </a:r>
          </a:p>
          <a:p>
            <a:pPr>
              <a:spcAft>
                <a:spcPts val="900"/>
              </a:spcAft>
              <a:defRPr sz="1500">
                <a:solidFill>
                  <a:srgbClr val="232323"/>
                </a:solidFill>
                <a:latin typeface="Aptos"/>
              </a:defRPr>
            </a:pPr>
            <a:r>
              <a:t>• Demonstrate the practical application of advanced algorithms.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Oval 3"/>
          <p:cNvSpPr/>
          <p:nvPr/>
        </p:nvSpPr>
        <p:spPr>
          <a:xfrm>
            <a:off x="749808" y="1371600"/>
            <a:ext cx="502920" cy="502920"/>
          </a:xfrm>
          <a:prstGeom prst="ellipse">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1</a:t>
            </a:r>
          </a:p>
        </p:txBody>
      </p:sp>
      <p:sp>
        <p:nvSpPr>
          <p:cNvPr id="5" name="Rounded Rectangle 4"/>
          <p:cNvSpPr/>
          <p:nvPr/>
        </p:nvSpPr>
        <p:spPr>
          <a:xfrm>
            <a:off x="1417320" y="1261872"/>
            <a:ext cx="9189720" cy="804672"/>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00200" y="1353312"/>
            <a:ext cx="8823960" cy="256032"/>
          </a:xfrm>
          <a:prstGeom prst="rect">
            <a:avLst/>
          </a:prstGeom>
          <a:noFill/>
        </p:spPr>
        <p:txBody>
          <a:bodyPr wrap="square" anchor="t">
            <a:spAutoFit/>
          </a:bodyPr>
          <a:lstStyle/>
          <a:p>
            <a:pPr algn="ctr"/>
            <a:r>
              <a:rPr sz="1500" b="1">
                <a:solidFill>
                  <a:srgbClr val="CC0000"/>
                </a:solidFill>
                <a:latin typeface="Aptos"/>
              </a:rPr>
              <a:t>User Input</a:t>
            </a:r>
          </a:p>
        </p:txBody>
      </p:sp>
      <p:sp>
        <p:nvSpPr>
          <p:cNvPr id="7" name="TextBox 6"/>
          <p:cNvSpPr txBox="1"/>
          <p:nvPr/>
        </p:nvSpPr>
        <p:spPr>
          <a:xfrm>
            <a:off x="1600200" y="1655063"/>
            <a:ext cx="8823960" cy="228600"/>
          </a:xfrm>
          <a:prstGeom prst="rect">
            <a:avLst/>
          </a:prstGeom>
          <a:noFill/>
        </p:spPr>
        <p:txBody>
          <a:bodyPr wrap="square" anchor="t">
            <a:spAutoFit/>
          </a:bodyPr>
          <a:lstStyle/>
          <a:p>
            <a:pPr algn="ctr"/>
            <a:r>
              <a:rPr sz="1250" b="0">
                <a:solidFill>
                  <a:srgbClr val="232323"/>
                </a:solidFill>
                <a:latin typeface="Aptos"/>
              </a:rPr>
              <a:t>Location, min/max price, property type, amenities</a:t>
            </a:r>
          </a:p>
        </p:txBody>
      </p:sp>
      <p:sp>
        <p:nvSpPr>
          <p:cNvPr id="8" name="TextBox 7"/>
          <p:cNvSpPr txBox="1"/>
          <p:nvPr/>
        </p:nvSpPr>
        <p:spPr>
          <a:xfrm>
            <a:off x="5486400" y="2048255"/>
            <a:ext cx="365760" cy="228600"/>
          </a:xfrm>
          <a:prstGeom prst="rect">
            <a:avLst/>
          </a:prstGeom>
          <a:noFill/>
        </p:spPr>
        <p:txBody>
          <a:bodyPr wrap="square" anchor="t">
            <a:spAutoFit/>
          </a:bodyPr>
          <a:lstStyle/>
          <a:p>
            <a:pPr algn="ctr"/>
            <a:r>
              <a:rPr sz="1600" b="1">
                <a:solidFill>
                  <a:srgbClr val="CC0000"/>
                </a:solidFill>
                <a:latin typeface="Aptos"/>
              </a:rPr>
              <a:t>↓</a:t>
            </a:r>
          </a:p>
        </p:txBody>
      </p:sp>
      <p:sp>
        <p:nvSpPr>
          <p:cNvPr id="9" name="Oval 8"/>
          <p:cNvSpPr/>
          <p:nvPr/>
        </p:nvSpPr>
        <p:spPr>
          <a:xfrm>
            <a:off x="749808" y="2304288"/>
            <a:ext cx="502920" cy="502920"/>
          </a:xfrm>
          <a:prstGeom prst="ellipse">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2</a:t>
            </a:r>
          </a:p>
        </p:txBody>
      </p:sp>
      <p:sp>
        <p:nvSpPr>
          <p:cNvPr id="10" name="Rounded Rectangle 9"/>
          <p:cNvSpPr/>
          <p:nvPr/>
        </p:nvSpPr>
        <p:spPr>
          <a:xfrm>
            <a:off x="1417320" y="2194560"/>
            <a:ext cx="9189720" cy="804672"/>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00200" y="2286000"/>
            <a:ext cx="8823960" cy="256032"/>
          </a:xfrm>
          <a:prstGeom prst="rect">
            <a:avLst/>
          </a:prstGeom>
          <a:noFill/>
        </p:spPr>
        <p:txBody>
          <a:bodyPr wrap="square" anchor="t">
            <a:spAutoFit/>
          </a:bodyPr>
          <a:lstStyle/>
          <a:p>
            <a:pPr algn="ctr"/>
            <a:r>
              <a:rPr sz="1500" b="1">
                <a:solidFill>
                  <a:srgbClr val="CC0000"/>
                </a:solidFill>
                <a:latin typeface="Aptos"/>
              </a:rPr>
              <a:t>Data Structure Selection</a:t>
            </a:r>
          </a:p>
        </p:txBody>
      </p:sp>
      <p:sp>
        <p:nvSpPr>
          <p:cNvPr id="12" name="TextBox 11"/>
          <p:cNvSpPr txBox="1"/>
          <p:nvPr/>
        </p:nvSpPr>
        <p:spPr>
          <a:xfrm>
            <a:off x="1600200" y="2587752"/>
            <a:ext cx="8823960" cy="228600"/>
          </a:xfrm>
          <a:prstGeom prst="rect">
            <a:avLst/>
          </a:prstGeom>
          <a:noFill/>
        </p:spPr>
        <p:txBody>
          <a:bodyPr wrap="square" anchor="t">
            <a:spAutoFit/>
          </a:bodyPr>
          <a:lstStyle/>
          <a:p>
            <a:pPr algn="ctr"/>
            <a:r>
              <a:rPr sz="1250" b="0">
                <a:solidFill>
                  <a:srgbClr val="232323"/>
                </a:solidFill>
                <a:latin typeface="Aptos"/>
              </a:rPr>
              <a:t>HashMap → location   |   BST → price   |   Heap → ranking</a:t>
            </a:r>
          </a:p>
        </p:txBody>
      </p:sp>
      <p:sp>
        <p:nvSpPr>
          <p:cNvPr id="13" name="TextBox 12"/>
          <p:cNvSpPr txBox="1"/>
          <p:nvPr/>
        </p:nvSpPr>
        <p:spPr>
          <a:xfrm>
            <a:off x="5486400" y="2980944"/>
            <a:ext cx="365760" cy="228600"/>
          </a:xfrm>
          <a:prstGeom prst="rect">
            <a:avLst/>
          </a:prstGeom>
          <a:noFill/>
        </p:spPr>
        <p:txBody>
          <a:bodyPr wrap="square" anchor="t">
            <a:spAutoFit/>
          </a:bodyPr>
          <a:lstStyle/>
          <a:p>
            <a:pPr algn="ctr"/>
            <a:r>
              <a:rPr sz="1600" b="1">
                <a:solidFill>
                  <a:srgbClr val="CC0000"/>
                </a:solidFill>
                <a:latin typeface="Aptos"/>
              </a:rPr>
              <a:t>↓</a:t>
            </a:r>
          </a:p>
        </p:txBody>
      </p:sp>
      <p:sp>
        <p:nvSpPr>
          <p:cNvPr id="14" name="Oval 13"/>
          <p:cNvSpPr/>
          <p:nvPr/>
        </p:nvSpPr>
        <p:spPr>
          <a:xfrm>
            <a:off x="749808" y="3236976"/>
            <a:ext cx="502920" cy="502920"/>
          </a:xfrm>
          <a:prstGeom prst="ellipse">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3</a:t>
            </a:r>
          </a:p>
        </p:txBody>
      </p:sp>
      <p:sp>
        <p:nvSpPr>
          <p:cNvPr id="15" name="Rounded Rectangle 14"/>
          <p:cNvSpPr/>
          <p:nvPr/>
        </p:nvSpPr>
        <p:spPr>
          <a:xfrm>
            <a:off x="1417320" y="3127248"/>
            <a:ext cx="9189720" cy="804672"/>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00200" y="3218688"/>
            <a:ext cx="8823960" cy="256032"/>
          </a:xfrm>
          <a:prstGeom prst="rect">
            <a:avLst/>
          </a:prstGeom>
          <a:noFill/>
        </p:spPr>
        <p:txBody>
          <a:bodyPr wrap="square" anchor="t">
            <a:spAutoFit/>
          </a:bodyPr>
          <a:lstStyle/>
          <a:p>
            <a:pPr algn="ctr"/>
            <a:r>
              <a:rPr sz="1500" b="1">
                <a:solidFill>
                  <a:srgbClr val="CC0000"/>
                </a:solidFill>
                <a:latin typeface="Aptos"/>
              </a:rPr>
              <a:t>Search &amp; Filtering</a:t>
            </a:r>
          </a:p>
        </p:txBody>
      </p:sp>
      <p:sp>
        <p:nvSpPr>
          <p:cNvPr id="17" name="TextBox 16"/>
          <p:cNvSpPr txBox="1"/>
          <p:nvPr/>
        </p:nvSpPr>
        <p:spPr>
          <a:xfrm>
            <a:off x="1600200" y="3520440"/>
            <a:ext cx="8823960" cy="228600"/>
          </a:xfrm>
          <a:prstGeom prst="rect">
            <a:avLst/>
          </a:prstGeom>
          <a:noFill/>
        </p:spPr>
        <p:txBody>
          <a:bodyPr wrap="square" anchor="t">
            <a:spAutoFit/>
          </a:bodyPr>
          <a:lstStyle/>
          <a:p>
            <a:pPr algn="ctr"/>
            <a:r>
              <a:rPr sz="1250" b="0">
                <a:solidFill>
                  <a:srgbClr val="232323"/>
                </a:solidFill>
                <a:latin typeface="Aptos"/>
              </a:rPr>
              <a:t>Apply criteria across the selected structures</a:t>
            </a:r>
          </a:p>
        </p:txBody>
      </p:sp>
      <p:sp>
        <p:nvSpPr>
          <p:cNvPr id="18" name="TextBox 17"/>
          <p:cNvSpPr txBox="1"/>
          <p:nvPr/>
        </p:nvSpPr>
        <p:spPr>
          <a:xfrm>
            <a:off x="5486400" y="3913632"/>
            <a:ext cx="365760" cy="228600"/>
          </a:xfrm>
          <a:prstGeom prst="rect">
            <a:avLst/>
          </a:prstGeom>
          <a:noFill/>
        </p:spPr>
        <p:txBody>
          <a:bodyPr wrap="square" anchor="t">
            <a:spAutoFit/>
          </a:bodyPr>
          <a:lstStyle/>
          <a:p>
            <a:pPr algn="ctr"/>
            <a:r>
              <a:rPr sz="1600" b="1">
                <a:solidFill>
                  <a:srgbClr val="CC0000"/>
                </a:solidFill>
                <a:latin typeface="Aptos"/>
              </a:rPr>
              <a:t>↓</a:t>
            </a:r>
          </a:p>
        </p:txBody>
      </p:sp>
      <p:sp>
        <p:nvSpPr>
          <p:cNvPr id="19" name="Oval 18"/>
          <p:cNvSpPr/>
          <p:nvPr/>
        </p:nvSpPr>
        <p:spPr>
          <a:xfrm>
            <a:off x="749808" y="4169663"/>
            <a:ext cx="502920" cy="502920"/>
          </a:xfrm>
          <a:prstGeom prst="ellipse">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4</a:t>
            </a:r>
          </a:p>
        </p:txBody>
      </p:sp>
      <p:sp>
        <p:nvSpPr>
          <p:cNvPr id="20" name="Rounded Rectangle 19"/>
          <p:cNvSpPr/>
          <p:nvPr/>
        </p:nvSpPr>
        <p:spPr>
          <a:xfrm>
            <a:off x="1417320" y="4059935"/>
            <a:ext cx="9189720" cy="804672"/>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00200" y="4151375"/>
            <a:ext cx="8823960" cy="256032"/>
          </a:xfrm>
          <a:prstGeom prst="rect">
            <a:avLst/>
          </a:prstGeom>
          <a:noFill/>
        </p:spPr>
        <p:txBody>
          <a:bodyPr wrap="square" anchor="t">
            <a:spAutoFit/>
          </a:bodyPr>
          <a:lstStyle/>
          <a:p>
            <a:pPr algn="ctr"/>
            <a:r>
              <a:rPr sz="1500" b="1">
                <a:solidFill>
                  <a:srgbClr val="CC0000"/>
                </a:solidFill>
                <a:latin typeface="Aptos"/>
              </a:rPr>
              <a:t>Sorting / Ranking</a:t>
            </a:r>
          </a:p>
        </p:txBody>
      </p:sp>
      <p:sp>
        <p:nvSpPr>
          <p:cNvPr id="22" name="TextBox 21"/>
          <p:cNvSpPr txBox="1"/>
          <p:nvPr/>
        </p:nvSpPr>
        <p:spPr>
          <a:xfrm>
            <a:off x="1600200" y="4453127"/>
            <a:ext cx="8823960" cy="228600"/>
          </a:xfrm>
          <a:prstGeom prst="rect">
            <a:avLst/>
          </a:prstGeom>
          <a:noFill/>
        </p:spPr>
        <p:txBody>
          <a:bodyPr wrap="square" anchor="t">
            <a:spAutoFit/>
          </a:bodyPr>
          <a:lstStyle/>
          <a:p>
            <a:pPr algn="ctr"/>
            <a:r>
              <a:rPr sz="1250" b="0">
                <a:solidFill>
                  <a:srgbClr val="232323"/>
                </a:solidFill>
                <a:latin typeface="Aptos"/>
              </a:rPr>
              <a:t>Order matching results by price, area, or rating</a:t>
            </a:r>
          </a:p>
        </p:txBody>
      </p:sp>
      <p:sp>
        <p:nvSpPr>
          <p:cNvPr id="23" name="TextBox 22"/>
          <p:cNvSpPr txBox="1"/>
          <p:nvPr/>
        </p:nvSpPr>
        <p:spPr>
          <a:xfrm>
            <a:off x="5486400" y="4846320"/>
            <a:ext cx="365760" cy="228600"/>
          </a:xfrm>
          <a:prstGeom prst="rect">
            <a:avLst/>
          </a:prstGeom>
          <a:noFill/>
        </p:spPr>
        <p:txBody>
          <a:bodyPr wrap="square" anchor="t">
            <a:spAutoFit/>
          </a:bodyPr>
          <a:lstStyle/>
          <a:p>
            <a:pPr algn="ctr"/>
            <a:r>
              <a:rPr sz="1600" b="1">
                <a:solidFill>
                  <a:srgbClr val="CC0000"/>
                </a:solidFill>
                <a:latin typeface="Aptos"/>
              </a:rPr>
              <a:t>↓</a:t>
            </a:r>
          </a:p>
        </p:txBody>
      </p:sp>
      <p:sp>
        <p:nvSpPr>
          <p:cNvPr id="24" name="Oval 23"/>
          <p:cNvSpPr/>
          <p:nvPr/>
        </p:nvSpPr>
        <p:spPr>
          <a:xfrm>
            <a:off x="749808" y="5102351"/>
            <a:ext cx="502920" cy="502920"/>
          </a:xfrm>
          <a:prstGeom prst="ellipse">
            <a:avLst/>
          </a:prstGeom>
          <a:solidFill>
            <a:srgbClr val="1F77B4"/>
          </a:solidFill>
          <a:ln>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5</a:t>
            </a:r>
          </a:p>
        </p:txBody>
      </p:sp>
      <p:sp>
        <p:nvSpPr>
          <p:cNvPr id="25" name="Rounded Rectangle 24"/>
          <p:cNvSpPr/>
          <p:nvPr/>
        </p:nvSpPr>
        <p:spPr>
          <a:xfrm>
            <a:off x="1417320" y="4992623"/>
            <a:ext cx="9189720" cy="804672"/>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00200" y="5084063"/>
            <a:ext cx="8823960" cy="256032"/>
          </a:xfrm>
          <a:prstGeom prst="rect">
            <a:avLst/>
          </a:prstGeom>
          <a:noFill/>
        </p:spPr>
        <p:txBody>
          <a:bodyPr wrap="square" anchor="t">
            <a:spAutoFit/>
          </a:bodyPr>
          <a:lstStyle/>
          <a:p>
            <a:pPr algn="ctr"/>
            <a:r>
              <a:rPr sz="1500" b="1">
                <a:solidFill>
                  <a:srgbClr val="CC0000"/>
                </a:solidFill>
                <a:latin typeface="Aptos"/>
              </a:rPr>
              <a:t>Display Results</a:t>
            </a:r>
          </a:p>
        </p:txBody>
      </p:sp>
      <p:sp>
        <p:nvSpPr>
          <p:cNvPr id="27" name="TextBox 26"/>
          <p:cNvSpPr txBox="1"/>
          <p:nvPr/>
        </p:nvSpPr>
        <p:spPr>
          <a:xfrm>
            <a:off x="1600200" y="5385815"/>
            <a:ext cx="8823960" cy="228600"/>
          </a:xfrm>
          <a:prstGeom prst="rect">
            <a:avLst/>
          </a:prstGeom>
          <a:noFill/>
        </p:spPr>
        <p:txBody>
          <a:bodyPr wrap="square" anchor="t">
            <a:spAutoFit/>
          </a:bodyPr>
          <a:lstStyle/>
          <a:p>
            <a:pPr algn="ctr"/>
            <a:r>
              <a:rPr sz="1250" b="0">
                <a:solidFill>
                  <a:srgbClr val="232323"/>
                </a:solidFill>
                <a:latin typeface="Aptos"/>
              </a:rPr>
              <a:t>Show matching properties to the user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p:cNvSpPr txBox="1"/>
          <p:nvPr/>
        </p:nvSpPr>
        <p:spPr>
          <a:xfrm>
            <a:off x="914400" y="1207008"/>
            <a:ext cx="5029200" cy="411480"/>
          </a:xfrm>
          <a:prstGeom prst="rect">
            <a:avLst/>
          </a:prstGeom>
          <a:noFill/>
        </p:spPr>
        <p:txBody>
          <a:bodyPr wrap="square" anchor="t">
            <a:spAutoFit/>
          </a:bodyPr>
          <a:lstStyle/>
          <a:p>
            <a:pPr algn="l"/>
            <a:r>
              <a:rPr sz="2100" b="1">
                <a:solidFill>
                  <a:srgbClr val="CC0000"/>
                </a:solidFill>
                <a:latin typeface="Aptos"/>
              </a:rPr>
              <a:t>Example from the original project</a:t>
            </a:r>
          </a:p>
        </p:txBody>
      </p:sp>
      <p:sp>
        <p:nvSpPr>
          <p:cNvPr id="5" name="Rounded Rectangle 4"/>
          <p:cNvSpPr/>
          <p:nvPr/>
        </p:nvSpPr>
        <p:spPr>
          <a:xfrm>
            <a:off x="914400" y="1737360"/>
            <a:ext cx="4800600" cy="2331720"/>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spcAft>
                <a:spcPts val="500"/>
              </a:spcAft>
            </a:pPr>
            <a:r>
              <a:rPr sz="2100" b="1">
                <a:solidFill>
                  <a:srgbClr val="CC0000"/>
                </a:solidFill>
                <a:latin typeface="Aptos"/>
              </a:rPr>
              <a:t>Input</a:t>
            </a:r>
          </a:p>
          <a:p>
            <a:r>
              <a:rPr sz="1900">
                <a:solidFill>
                  <a:srgbClr val="232323"/>
                </a:solidFill>
                <a:latin typeface="Aptos"/>
              </a:rPr>
              <a:t>Location = Hyderabad
Price = ₹40L–₹80L
Type = Apartment
Amenity = Parking</a:t>
            </a:r>
          </a:p>
        </p:txBody>
      </p:sp>
      <p:sp>
        <p:nvSpPr>
          <p:cNvPr id="6" name="Rounded Rectangle 5"/>
          <p:cNvSpPr/>
          <p:nvPr/>
        </p:nvSpPr>
        <p:spPr>
          <a:xfrm>
            <a:off x="6263640" y="1737360"/>
            <a:ext cx="4800600" cy="2331720"/>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spcAft>
                <a:spcPts val="500"/>
              </a:spcAft>
            </a:pPr>
            <a:r>
              <a:rPr sz="2100" b="1">
                <a:solidFill>
                  <a:srgbClr val="CC0000"/>
                </a:solidFill>
                <a:latin typeface="Aptos"/>
              </a:rPr>
              <a:t>Output</a:t>
            </a:r>
          </a:p>
          <a:p>
            <a:r>
              <a:rPr sz="1800">
                <a:solidFill>
                  <a:srgbClr val="232323"/>
                </a:solidFill>
                <a:latin typeface="Aptos"/>
              </a:rPr>
              <a:t>Displays matching properties in Hyderabad priced ₹40L–₹80L, of type Apartment, with parking — ranked and ready to browse.</a:t>
            </a:r>
          </a:p>
        </p:txBody>
      </p:sp>
      <p:sp>
        <p:nvSpPr>
          <p:cNvPr id="7" name="TextBox 6"/>
          <p:cNvSpPr txBox="1"/>
          <p:nvPr/>
        </p:nvSpPr>
        <p:spPr>
          <a:xfrm>
            <a:off x="914400" y="4434840"/>
            <a:ext cx="5943600" cy="411480"/>
          </a:xfrm>
          <a:prstGeom prst="rect">
            <a:avLst/>
          </a:prstGeom>
          <a:noFill/>
        </p:spPr>
        <p:txBody>
          <a:bodyPr wrap="square" anchor="t">
            <a:spAutoFit/>
          </a:bodyPr>
          <a:lstStyle/>
          <a:p>
            <a:pPr algn="l"/>
            <a:r>
              <a:rPr sz="1900" b="1">
                <a:solidFill>
                  <a:srgbClr val="CC0000"/>
                </a:solidFill>
                <a:latin typeface="Aptos"/>
              </a:rPr>
              <a:t>Complexity highlighted in the original PPT</a:t>
            </a:r>
          </a:p>
        </p:txBody>
      </p:sp>
      <p:sp>
        <p:nvSpPr>
          <p:cNvPr id="8" name="TextBox 7"/>
          <p:cNvSpPr txBox="1"/>
          <p:nvPr/>
        </p:nvSpPr>
        <p:spPr>
          <a:xfrm>
            <a:off x="914400" y="4846320"/>
            <a:ext cx="9966960" cy="1280160"/>
          </a:xfrm>
          <a:prstGeom prst="rect">
            <a:avLst/>
          </a:prstGeom>
          <a:noFill/>
        </p:spPr>
        <p:txBody>
          <a:bodyPr wrap="square">
            <a:spAutoFit/>
          </a:bodyPr>
          <a:lstStyle/>
          <a:p>
            <a:pPr>
              <a:spcAft>
                <a:spcPts val="900"/>
              </a:spcAft>
              <a:defRPr sz="1600">
                <a:solidFill>
                  <a:srgbClr val="232323"/>
                </a:solidFill>
                <a:latin typeface="Aptos"/>
              </a:defRPr>
            </a:pPr>
            <a:r>
              <a:t>• HashMap search — average case O(1)</a:t>
            </a:r>
          </a:p>
          <a:p>
            <a:pPr>
              <a:spcAft>
                <a:spcPts val="900"/>
              </a:spcAft>
              <a:defRPr sz="1600">
                <a:solidFill>
                  <a:srgbClr val="232323"/>
                </a:solidFill>
                <a:latin typeface="Aptos"/>
              </a:defRPr>
            </a:pPr>
            <a:r>
              <a:t>• Binary Search — O(log n)</a:t>
            </a:r>
          </a:p>
          <a:p>
            <a:pPr>
              <a:spcAft>
                <a:spcPts val="900"/>
              </a:spcAft>
              <a:defRPr sz="1600">
                <a:solidFill>
                  <a:srgbClr val="232323"/>
                </a:solidFill>
                <a:latin typeface="Aptos"/>
              </a:defRPr>
            </a:pPr>
            <a:r>
              <a:t>• Merge Sort — O(n log n)</a:t>
            </a:r>
          </a:p>
          <a:p>
            <a:pPr>
              <a:spcAft>
                <a:spcPts val="900"/>
              </a:spcAft>
              <a:defRPr sz="1600">
                <a:solidFill>
                  <a:srgbClr val="232323"/>
                </a:solidFill>
                <a:latin typeface="Aptos"/>
              </a:defRPr>
            </a:pPr>
            <a:r>
              <a:t>• Heap operations — O(log n)</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ounded Rectangle 3"/>
          <p:cNvSpPr/>
          <p:nvPr/>
        </p:nvSpPr>
        <p:spPr>
          <a:xfrm>
            <a:off x="914400" y="1371600"/>
            <a:ext cx="4800600" cy="1874519"/>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spcAft>
                <a:spcPts val="500"/>
              </a:spcAft>
            </a:pPr>
            <a:r>
              <a:rPr sz="2100" b="1">
                <a:solidFill>
                  <a:srgbClr val="CC0000"/>
                </a:solidFill>
                <a:latin typeface="Aptos"/>
              </a:rPr>
              <a:t>Hardware</a:t>
            </a:r>
          </a:p>
          <a:p>
            <a:r>
              <a:rPr sz="1800">
                <a:solidFill>
                  <a:srgbClr val="232323"/>
                </a:solidFill>
                <a:latin typeface="Aptos"/>
              </a:rPr>
              <a:t>The original Property Finder PPT does not specify particular hardware requirements.</a:t>
            </a:r>
          </a:p>
        </p:txBody>
      </p:sp>
      <p:sp>
        <p:nvSpPr>
          <p:cNvPr id="5" name="Rounded Rectangle 4"/>
          <p:cNvSpPr/>
          <p:nvPr/>
        </p:nvSpPr>
        <p:spPr>
          <a:xfrm>
            <a:off x="6263640" y="1371600"/>
            <a:ext cx="4800600" cy="1874519"/>
          </a:xfrm>
          <a:prstGeom prst="roundRect">
            <a:avLst/>
          </a:prstGeom>
          <a:solidFill>
            <a:srgbClr val="F5F7F8"/>
          </a:solidFill>
          <a:ln>
            <a:solidFill>
              <a:srgbClr val="D7DCDF"/>
            </a:solidFill>
          </a:ln>
        </p:spPr>
        <p:style>
          <a:lnRef idx="1">
            <a:schemeClr val="accent1"/>
          </a:lnRef>
          <a:fillRef idx="3">
            <a:schemeClr val="accent1"/>
          </a:fillRef>
          <a:effectRef idx="2">
            <a:schemeClr val="accent1"/>
          </a:effectRef>
          <a:fontRef idx="minor">
            <a:schemeClr val="lt1"/>
          </a:fontRef>
        </p:style>
        <p:txBody>
          <a:bodyPr wrap="square" lIns="164592" tIns="109728" rIns="164592" rtlCol="0" anchor="ctr"/>
          <a:lstStyle/>
          <a:p>
            <a:pPr algn="ctr">
              <a:spcAft>
                <a:spcPts val="500"/>
              </a:spcAft>
            </a:pPr>
            <a:r>
              <a:rPr sz="2100" b="1">
                <a:solidFill>
                  <a:srgbClr val="CC0000"/>
                </a:solidFill>
                <a:latin typeface="Aptos"/>
              </a:rPr>
              <a:t>Software</a:t>
            </a:r>
          </a:p>
          <a:p>
            <a:r>
              <a:rPr sz="1800">
                <a:solidFill>
                  <a:srgbClr val="232323"/>
                </a:solidFill>
                <a:latin typeface="Aptos"/>
              </a:rPr>
              <a:t>The original Property Finder PPT does not specify a programming language, IDE, operating system, or software stack.</a:t>
            </a:r>
          </a:p>
        </p:txBody>
      </p:sp>
      <p:sp>
        <p:nvSpPr>
          <p:cNvPr id="6" name="TextBox 5"/>
          <p:cNvSpPr txBox="1"/>
          <p:nvPr/>
        </p:nvSpPr>
        <p:spPr>
          <a:xfrm>
            <a:off x="914400" y="3749039"/>
            <a:ext cx="7772400" cy="411480"/>
          </a:xfrm>
          <a:prstGeom prst="rect">
            <a:avLst/>
          </a:prstGeom>
          <a:noFill/>
        </p:spPr>
        <p:txBody>
          <a:bodyPr wrap="square" anchor="t">
            <a:spAutoFit/>
          </a:bodyPr>
          <a:lstStyle/>
          <a:p>
            <a:pPr algn="l"/>
            <a:r>
              <a:rPr sz="1900" b="1">
                <a:solidFill>
                  <a:srgbClr val="CC0000"/>
                </a:solidFill>
                <a:latin typeface="Aptos"/>
              </a:rPr>
              <a:t>DSA components explicitly mentioned in the original PPT</a:t>
            </a:r>
          </a:p>
        </p:txBody>
      </p:sp>
      <p:sp>
        <p:nvSpPr>
          <p:cNvPr id="7" name="TextBox 6"/>
          <p:cNvSpPr txBox="1"/>
          <p:nvPr/>
        </p:nvSpPr>
        <p:spPr>
          <a:xfrm>
            <a:off x="960120" y="4206240"/>
            <a:ext cx="5029200" cy="1828800"/>
          </a:xfrm>
          <a:prstGeom prst="rect">
            <a:avLst/>
          </a:prstGeom>
          <a:noFill/>
        </p:spPr>
        <p:txBody>
          <a:bodyPr wrap="square">
            <a:spAutoFit/>
          </a:bodyPr>
          <a:lstStyle/>
          <a:p>
            <a:pPr>
              <a:spcAft>
                <a:spcPts val="900"/>
              </a:spcAft>
              <a:defRPr sz="1800">
                <a:solidFill>
                  <a:srgbClr val="232323"/>
                </a:solidFill>
                <a:latin typeface="Aptos"/>
              </a:defRPr>
            </a:pPr>
            <a:r>
              <a:t>• Array / ArrayList</a:t>
            </a:r>
          </a:p>
          <a:p>
            <a:pPr>
              <a:spcAft>
                <a:spcPts val="900"/>
              </a:spcAft>
              <a:defRPr sz="1800">
                <a:solidFill>
                  <a:srgbClr val="232323"/>
                </a:solidFill>
                <a:latin typeface="Aptos"/>
              </a:defRPr>
            </a:pPr>
            <a:r>
              <a:t>• HashMap</a:t>
            </a:r>
          </a:p>
          <a:p>
            <a:pPr>
              <a:spcAft>
                <a:spcPts val="900"/>
              </a:spcAft>
              <a:defRPr sz="1800">
                <a:solidFill>
                  <a:srgbClr val="232323"/>
                </a:solidFill>
                <a:latin typeface="Aptos"/>
              </a:defRPr>
            </a:pPr>
            <a:r>
              <a:t>• Binary Search Tree</a:t>
            </a:r>
          </a:p>
          <a:p>
            <a:pPr>
              <a:spcAft>
                <a:spcPts val="900"/>
              </a:spcAft>
              <a:defRPr sz="1800">
                <a:solidFill>
                  <a:srgbClr val="232323"/>
                </a:solidFill>
                <a:latin typeface="Aptos"/>
              </a:defRPr>
            </a:pPr>
            <a:r>
              <a:t>• Heap / Priority Queue</a:t>
            </a:r>
          </a:p>
          <a:p>
            <a:pPr>
              <a:spcAft>
                <a:spcPts val="900"/>
              </a:spcAft>
              <a:defRPr sz="1800">
                <a:solidFill>
                  <a:srgbClr val="232323"/>
                </a:solidFill>
                <a:latin typeface="Aptos"/>
              </a:defRPr>
            </a:pPr>
            <a:r>
              <a:t>• Graph</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p:cNvSpPr txBox="1"/>
          <p:nvPr/>
        </p:nvSpPr>
        <p:spPr>
          <a:xfrm>
            <a:off x="1005840" y="1371600"/>
            <a:ext cx="10149840" cy="4389120"/>
          </a:xfrm>
          <a:prstGeom prst="rect">
            <a:avLst/>
          </a:prstGeom>
          <a:noFill/>
        </p:spPr>
        <p:txBody>
          <a:bodyPr wrap="square">
            <a:spAutoFit/>
          </a:bodyPr>
          <a:lstStyle/>
          <a:p>
            <a:pPr>
              <a:spcAft>
                <a:spcPts val="900"/>
              </a:spcAft>
              <a:defRPr sz="2100">
                <a:solidFill>
                  <a:srgbClr val="232323"/>
                </a:solidFill>
                <a:latin typeface="Aptos"/>
              </a:defRPr>
            </a:pPr>
            <a:r>
              <a:t>• Property Finder demonstrates how DSA can solve a real-world property-search problem.</a:t>
            </a:r>
          </a:p>
          <a:p>
            <a:pPr>
              <a:spcAft>
                <a:spcPts val="900"/>
              </a:spcAft>
              <a:defRPr sz="2100">
                <a:solidFill>
                  <a:srgbClr val="232323"/>
                </a:solidFill>
                <a:latin typeface="Aptos"/>
              </a:defRPr>
            </a:pPr>
            <a:r>
              <a:t>• Efficient data structures improve search performance.</a:t>
            </a:r>
          </a:p>
          <a:p>
            <a:pPr>
              <a:spcAft>
                <a:spcPts val="900"/>
              </a:spcAft>
              <a:defRPr sz="2100">
                <a:solidFill>
                  <a:srgbClr val="232323"/>
                </a:solidFill>
                <a:latin typeface="Aptos"/>
              </a:defRPr>
            </a:pPr>
            <a:r>
              <a:t>• Hashing supports fast location-based searching.</a:t>
            </a:r>
          </a:p>
          <a:p>
            <a:pPr>
              <a:spcAft>
                <a:spcPts val="900"/>
              </a:spcAft>
              <a:defRPr sz="2100">
                <a:solidFill>
                  <a:srgbClr val="232323"/>
                </a:solidFill>
                <a:latin typeface="Aptos"/>
              </a:defRPr>
            </a:pPr>
            <a:r>
              <a:t>• Binary Search and BSTs improve price-based searching.</a:t>
            </a:r>
          </a:p>
          <a:p>
            <a:pPr>
              <a:spcAft>
                <a:spcPts val="900"/>
              </a:spcAft>
              <a:defRPr sz="2100">
                <a:solidFill>
                  <a:srgbClr val="232323"/>
                </a:solidFill>
                <a:latin typeface="Aptos"/>
              </a:defRPr>
            </a:pPr>
            <a:r>
              <a:t>• Sorting and heaps help provide relevant, ranked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p:cNvSpPr txBox="1"/>
          <p:nvPr/>
        </p:nvSpPr>
        <p:spPr>
          <a:xfrm>
            <a:off x="1188720" y="1463040"/>
            <a:ext cx="9418320" cy="2377440"/>
          </a:xfrm>
          <a:prstGeom prst="rect">
            <a:avLst/>
          </a:prstGeom>
          <a:noFill/>
        </p:spPr>
        <p:txBody>
          <a:bodyPr wrap="square">
            <a:spAutoFit/>
          </a:bodyPr>
          <a:lstStyle/>
          <a:p>
            <a:pPr>
              <a:spcAft>
                <a:spcPts val="900"/>
              </a:spcAft>
              <a:defRPr sz="2300">
                <a:solidFill>
                  <a:srgbClr val="232323"/>
                </a:solidFill>
                <a:latin typeface="Aptos"/>
              </a:defRPr>
            </a:pPr>
            <a:r>
              <a:t>• Recommendation algorithms</a:t>
            </a:r>
          </a:p>
          <a:p>
            <a:pPr>
              <a:spcAft>
                <a:spcPts val="900"/>
              </a:spcAft>
              <a:defRPr sz="2300">
                <a:solidFill>
                  <a:srgbClr val="232323"/>
                </a:solidFill>
                <a:latin typeface="Aptos"/>
              </a:defRPr>
            </a:pPr>
            <a:r>
              <a:t>• Maps and location-aware discovery</a:t>
            </a:r>
          </a:p>
          <a:p>
            <a:pPr>
              <a:spcAft>
                <a:spcPts val="900"/>
              </a:spcAft>
              <a:defRPr sz="2300">
                <a:solidFill>
                  <a:srgbClr val="232323"/>
                </a:solidFill>
                <a:latin typeface="Aptos"/>
              </a:defRPr>
            </a:pPr>
            <a:r>
              <a:t>• Machine learning</a:t>
            </a:r>
          </a:p>
        </p:txBody>
      </p:sp>
      <p:sp>
        <p:nvSpPr>
          <p:cNvPr id="6" name="TextBox 5"/>
          <p:cNvSpPr txBox="1"/>
          <p:nvPr/>
        </p:nvSpPr>
        <p:spPr>
          <a:xfrm>
            <a:off x="1188720" y="4160520"/>
            <a:ext cx="9326880" cy="822960"/>
          </a:xfrm>
          <a:prstGeom prst="rect">
            <a:avLst/>
          </a:prstGeom>
          <a:noFill/>
        </p:spPr>
        <p:txBody>
          <a:bodyPr wrap="square" anchor="t">
            <a:spAutoFit/>
          </a:bodyPr>
          <a:lstStyle/>
          <a:p>
            <a:pPr algn="l"/>
            <a:r>
              <a:rPr sz="1800" b="0">
                <a:solidFill>
                  <a:srgbClr val="5F5F5F"/>
                </a:solidFill>
                <a:latin typeface="Aptos"/>
              </a:rPr>
              <a:t>These future-scope items are the same as those stated in the original Property Finder presentation.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sz="3200" b="1">
                <a:solidFill>
                  <a:srgbClr val="FFFFFF"/>
                </a:solidFill>
                <a:latin typeface="Aptos"/>
              </a:rPr>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676</Words>
  <Application>Microsoft Office PowerPoint</Application>
  <PresentationFormat>Widescreen</PresentationFormat>
  <Paragraphs>99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Times New Roman</vt:lpstr>
      <vt:lpstr>Office Theme</vt:lpstr>
      <vt:lpstr>Data Structures and Algorithms -3
(25CS2103E) 
PROPERTY FINDER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SRIKAR MITTU</cp:lastModifiedBy>
  <cp:revision>20</cp:revision>
  <dcterms:created xsi:type="dcterms:W3CDTF">2024-08-29T05:25:00Z</dcterms:created>
  <dcterms:modified xsi:type="dcterms:W3CDTF">2026-08-27T06:56:12Z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