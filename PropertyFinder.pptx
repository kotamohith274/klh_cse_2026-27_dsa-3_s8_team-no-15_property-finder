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F4547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97680"/>
            <a:ext cx="2743200" cy="2743200"/>
          </a:xfrm>
          <a:prstGeom prst="ellipse">
            <a:avLst/>
          </a:prstGeom>
          <a:solidFill>
            <a:srgbClr val="0F4547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926080" cy="2926080"/>
          </a:xfrm>
          <a:prstGeom prst="ellipse">
            <a:avLst/>
          </a:prstGeom>
          <a:solidFill>
            <a:srgbClr val="0F45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PROJECT   ·   SECTION 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FINDER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Efficient Real Estate Search System Using Data Structures and Algorithms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420624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66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45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property searching and filtering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45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based on location, price, property type, and amenities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4709160"/>
            <a:ext cx="6035040" cy="1417320"/>
          </a:xfrm>
          <a:prstGeom prst="roundRect">
            <a:avLst>
              <a:gd name="adj" fmla="val 6452"/>
            </a:avLst>
          </a:prstGeom>
          <a:solidFill>
            <a:srgbClr val="0F4547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864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519379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Mohith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2520030520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31920" y="519379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Srikar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2520030076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46920" y="512064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15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09728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8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Real-estate websites contain thousands of property listings.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304288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8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property manually can be time-consuming.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81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3054096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8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linear search becomes inefficient as the number of properties increases.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8313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3803904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8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Data Structures and Algorithms are therefore required for faster property discovery.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903720" y="1417320"/>
            <a:ext cx="4754880" cy="4800600"/>
          </a:xfrm>
          <a:prstGeom prst="roundRect">
            <a:avLst>
              <a:gd name="adj" fmla="val 2308"/>
            </a:avLst>
          </a:prstGeom>
          <a:solidFill>
            <a:srgbClr val="0B3536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16916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to search by multiple criteria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24928" y="259689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424928" y="25968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73568" y="25146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973568" y="280720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property is situated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24928" y="3310128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7424928" y="33101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73568" y="32278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973568" y="35204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and maximum budget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24928" y="402336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7424928" y="40233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73568" y="39410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Type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973568" y="423367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Apartment, villa, plot, etc.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424928" y="4736592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7424928" y="47365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73568" y="46542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973568" y="49469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Built-up / carpet area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424928" y="5449824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7424928" y="54498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973568" y="53675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7973568" y="566013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Parking, gym, security, and more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FINDER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09728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1B2E2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687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68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417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8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efficient property-searching system.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1B2E2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6687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68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86600" y="1417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8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organize large numbers of property records.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1B2E2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28117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11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2560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8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fast searching based on different parameters.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256032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1B2E2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28117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811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6600" y="2560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8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filter properties according to their requirements.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1B2E2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9547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54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3703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8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properties based on price, area, or rating.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17920" y="370332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1B2E2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39547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954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86600" y="3703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8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search time using appropriate DSA techniques.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1B2E2C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50977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097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17320" y="4846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8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practical application of advanced algorithms.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FINDER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042416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0B3536"/>
          </a:solidFill>
          <a:ln/>
        </p:spPr>
      </p:sp>
      <p:sp>
        <p:nvSpPr>
          <p:cNvPr id="5" name="Shape 3"/>
          <p:cNvSpPr/>
          <p:nvPr/>
        </p:nvSpPr>
        <p:spPr>
          <a:xfrm>
            <a:off x="722376" y="1636776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6367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4672" y="23500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/ ArrayList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complete property record collection.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4256" y="141732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0B3536"/>
          </a:solidFill>
          <a:ln/>
        </p:spPr>
      </p:sp>
      <p:sp>
        <p:nvSpPr>
          <p:cNvPr id="10" name="Shape 8"/>
          <p:cNvSpPr/>
          <p:nvPr/>
        </p:nvSpPr>
        <p:spPr>
          <a:xfrm>
            <a:off x="4507992" y="1636776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6367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90288" y="23500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HashMap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90288" y="27889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locations/types to records. Fast average lookup O(1).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19872" y="141732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0B3536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3608" y="1636776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08" y="16367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75904" y="23500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Search Tree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75904" y="27889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properties by price for range searching.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41448" y="402336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0B3536"/>
          </a:solidFill>
          <a:ln/>
        </p:spPr>
      </p:sp>
      <p:sp>
        <p:nvSpPr>
          <p:cNvPr id="20" name="Shape 18"/>
          <p:cNvSpPr/>
          <p:nvPr/>
        </p:nvSpPr>
        <p:spPr>
          <a:xfrm>
            <a:off x="2615184" y="4242816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2615184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697480" y="49560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Heap / Priority Queue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2697480" y="5394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top properties by price, rating, or relevance.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27064" y="402336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0B3536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4242816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83096" y="49560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483096" y="5394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location relationships; finds nearby areas.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FINDER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042416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20840" cy="4480560"/>
        </p:xfrm>
        <a:graphic>
          <a:graphicData uri="http://schemas.openxmlformats.org/drawingml/2006/table">
            <a:tbl>
              <a:tblPr/>
              <a:tblGrid>
                <a:gridCol w="3566160"/>
                <a:gridCol w="3154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/ Technique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location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Price-range filtering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BST / Range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by 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top properties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/ Priority Queue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multiple conditions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Filtering &amp; Indexing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Nearby locations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Traversal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54380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543800" y="1828800"/>
            <a:ext cx="4114800" cy="932688"/>
          </a:xfrm>
          <a:prstGeom prst="roundRect">
            <a:avLst>
              <a:gd name="adj" fmla="val 9804"/>
            </a:avLst>
          </a:prstGeom>
          <a:solidFill>
            <a:srgbClr val="0B3536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0" y="19385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Search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0" y="23591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case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966960" y="1828800"/>
            <a:ext cx="15544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543800" y="2889504"/>
            <a:ext cx="4114800" cy="932688"/>
          </a:xfrm>
          <a:prstGeom prst="roundRect">
            <a:avLst>
              <a:gd name="adj" fmla="val 9804"/>
            </a:avLst>
          </a:prstGeom>
          <a:solidFill>
            <a:srgbClr val="0B3536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0" y="29992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0" y="34198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966960" y="2889504"/>
            <a:ext cx="15544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O(log n)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543800" y="3950208"/>
            <a:ext cx="4114800" cy="932688"/>
          </a:xfrm>
          <a:prstGeom prst="roundRect">
            <a:avLst>
              <a:gd name="adj" fmla="val 9804"/>
            </a:avLst>
          </a:prstGeom>
          <a:solidFill>
            <a:srgbClr val="0B3536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0" y="40599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0" y="44805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966960" y="3950208"/>
            <a:ext cx="15544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 log n)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7543800" y="5010912"/>
            <a:ext cx="4114800" cy="932688"/>
          </a:xfrm>
          <a:prstGeom prst="roundRect">
            <a:avLst>
              <a:gd name="adj" fmla="val 9804"/>
            </a:avLst>
          </a:prstGeom>
          <a:solidFill>
            <a:srgbClr val="0B3536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0" y="5120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Operations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772400" y="554126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966960" y="5010912"/>
            <a:ext cx="15544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O(log n)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FINDER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Finder — System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6492240" cy="786384"/>
          </a:xfrm>
          <a:prstGeom prst="roundRect">
            <a:avLst>
              <a:gd name="adj" fmla="val 9302"/>
            </a:avLst>
          </a:prstGeom>
          <a:solidFill>
            <a:srgbClr val="0B3536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" y="160020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6002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49047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8013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Criteria: location, min/max price, property type, amenities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41248" y="218541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6492240" cy="786384"/>
          </a:xfrm>
          <a:prstGeom prst="roundRect">
            <a:avLst>
              <a:gd name="adj" fmla="val 9302"/>
            </a:avLst>
          </a:prstGeom>
          <a:solidFill>
            <a:srgbClr val="F2F8F7"/>
          </a:solidFill>
          <a:ln/>
        </p:spPr>
      </p:sp>
      <p:sp>
        <p:nvSpPr>
          <p:cNvPr id="11" name="Shape 9"/>
          <p:cNvSpPr/>
          <p:nvPr/>
        </p:nvSpPr>
        <p:spPr>
          <a:xfrm>
            <a:off x="795528" y="258775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587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47802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Selection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C7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→ location   |   BST → price   |   Heap → ranking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841248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392424"/>
            <a:ext cx="6492240" cy="786384"/>
          </a:xfrm>
          <a:prstGeom prst="roundRect">
            <a:avLst>
              <a:gd name="adj" fmla="val 9302"/>
            </a:avLst>
          </a:prstGeom>
          <a:solidFill>
            <a:srgbClr val="F2F8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" y="357530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3575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465576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7764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C7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criteria across the selected structures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41248" y="41605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379976"/>
            <a:ext cx="6492240" cy="786384"/>
          </a:xfrm>
          <a:prstGeom prst="roundRect">
            <a:avLst>
              <a:gd name="adj" fmla="val 9302"/>
            </a:avLst>
          </a:prstGeom>
          <a:solidFill>
            <a:srgbClr val="F2F8F7"/>
          </a:solidFill>
          <a:ln/>
        </p:spPr>
      </p:sp>
      <p:sp>
        <p:nvSpPr>
          <p:cNvPr id="23" name="Shape 21"/>
          <p:cNvSpPr/>
          <p:nvPr/>
        </p:nvSpPr>
        <p:spPr>
          <a:xfrm>
            <a:off x="795528" y="456285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" y="45628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45312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/ Ranking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47640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C7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matching results by price, area, or rating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841248" y="514807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5367528"/>
            <a:ext cx="6492240" cy="786384"/>
          </a:xfrm>
          <a:prstGeom prst="roundRect">
            <a:avLst>
              <a:gd name="adj" fmla="val 9302"/>
            </a:avLst>
          </a:prstGeom>
          <a:solidFill>
            <a:srgbClr val="0B3536"/>
          </a:solidFill>
          <a:ln/>
        </p:spPr>
      </p:sp>
      <p:sp>
        <p:nvSpPr>
          <p:cNvPr id="29" name="Shape 27"/>
          <p:cNvSpPr/>
          <p:nvPr/>
        </p:nvSpPr>
        <p:spPr>
          <a:xfrm>
            <a:off x="795528" y="5550408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" y="5550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0" y="544068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71600" y="57515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matching properties to the user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7406640" y="1417320"/>
            <a:ext cx="4251960" cy="4617720"/>
          </a:xfrm>
          <a:prstGeom prst="roundRect">
            <a:avLst>
              <a:gd name="adj" fmla="val 2581"/>
            </a:avLst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772668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26680" y="20116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726680" y="242316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= Hyderabad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₹40L – ₹80L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= Apartment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Amenity = Parking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26680" y="3794760"/>
            <a:ext cx="3566160" cy="0"/>
          </a:xfrm>
          <a:prstGeom prst="line">
            <a:avLst/>
          </a:prstGeom>
          <a:noFill/>
          <a:ln w="12700">
            <a:solidFill>
              <a:srgbClr val="6FC7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26680" y="3977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726680" y="4370832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all properties in Hyderabad, priced ₹40L–₹80L, of type Apartment, with parking — ranked and ready to browse.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FINDER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0F4547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108960" cy="3108960"/>
          </a:xfrm>
          <a:prstGeom prst="ellipse">
            <a:avLst/>
          </a:prstGeom>
          <a:solidFill>
            <a:srgbClr val="0F45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&amp; 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90195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Real-estate property portals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23774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350008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 and villa search systems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285292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825496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property platforms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32841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328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property search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380390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803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776472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recommendation systems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94360" y="427939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279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251960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property discovery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55080" y="1463040"/>
            <a:ext cx="5303520" cy="4846320"/>
          </a:xfrm>
          <a:prstGeom prst="roundRect">
            <a:avLst>
              <a:gd name="adj" fmla="val 2264"/>
            </a:avLst>
          </a:prstGeom>
          <a:solidFill>
            <a:srgbClr val="0F4547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5160" y="2103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Finder demonstrates how DSA can solve a real-world problem.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6675120" y="257860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95160" y="25786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data structures significantly improve search performance.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6675120" y="305409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95160" y="30540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provides fast location-based searches.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6675120" y="352958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95160" y="35295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and BSTs improve price-based searching.</a:t>
            </a: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6675120" y="400507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95160" y="40050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and heaps help provide relevant, ranked results.</a:t>
            </a:r>
            <a:endParaRPr lang="en-US" sz="1280" dirty="0"/>
          </a:p>
        </p:txBody>
      </p:sp>
      <p:sp>
        <p:nvSpPr>
          <p:cNvPr id="37" name="Text 35"/>
          <p:cNvSpPr/>
          <p:nvPr/>
        </p:nvSpPr>
        <p:spPr>
          <a:xfrm>
            <a:off x="6675120" y="4480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95160" y="44805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recommendation algorithms, maps, and machine learning.</a:t>
            </a:r>
            <a:endParaRPr lang="en-US" sz="1280" dirty="0"/>
          </a:p>
        </p:txBody>
      </p:sp>
      <p:sp>
        <p:nvSpPr>
          <p:cNvPr id="39" name="Text 3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FINDER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2026-08-13T06:46:08Z</dcterms:created>
  <dcterms:modified xsi:type="dcterms:W3CDTF">2026-08-13T06:46:08Z</dcterms:modified>
</cp:coreProperties>
</file>